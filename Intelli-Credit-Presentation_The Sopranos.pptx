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Lakhs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777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1C1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Claimed ITC
(GSTR-3B)</c:v>
                  </c:pt>
                  <c:pt idx="1">
                    <c:v>Verified ITC
(GSTR-2A)</c:v>
                  </c:pt>
                  <c:pt idx="2">
                    <c:v>Unverified
(Flagged)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Process</c:v>
                </c:pt>
              </c:strCache>
            </c:strRef>
          </c:tx>
          <c:spPr>
            <a:solidFill>
              <a:srgbClr val="BBBB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TAT (days)</c:v>
                  </c:pt>
                  <c:pt idx="1">
                    <c:v>Error Rate (%)</c:v>
                  </c:pt>
                  <c:pt idx="2">
                    <c:v>Analysts Needed</c:v>
                  </c:pt>
                  <c:pt idx="3">
                    <c:v>Fraud Catch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35</c:v>
                </c:pt>
                <c:pt idx="2">
                  <c:v>5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Intelli-Credit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TAT (days)</c:v>
                  </c:pt>
                  <c:pt idx="1">
                    <c:v>Error Rate (%)</c:v>
                  </c:pt>
                  <c:pt idx="2">
                    <c:v>Analysts Needed</c:v>
                  </c:pt>
                  <c:pt idx="3">
                    <c:v>Fraud Catch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2</c:v>
                </c:pt>
                <c:pt idx="2">
                  <c:v>1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89320" y="0"/>
            <a:ext cx="3154680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08192" y="109728"/>
            <a:ext cx="896112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08192" y="12801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₹2.1 Tn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08192" y="4846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Corp NPA Stock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114032" y="109728"/>
            <a:ext cx="896112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4032" y="12801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4032" y="4846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Manual TAT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19872" y="109728"/>
            <a:ext cx="896112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2801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19872" y="4846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Fraud Catch Rate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9601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INTELLI-CREDIT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384048" y="1810512"/>
            <a:ext cx="5029200" cy="2743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892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Eradicating the Corporate Lending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2677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Paradox"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048" y="27706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AI-Powered Credit Decisioning Engine for Indian Corporate Finance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127248"/>
            <a:ext cx="2011680" cy="960120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127248"/>
            <a:ext cx="201168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72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₹2.1 Tn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84048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BBBB"/>
                </a:solidFill>
              </a:rPr>
              <a:t>NPA Pool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Corporate NPA FY24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60320" y="3127248"/>
            <a:ext cx="2011680" cy="960120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127248"/>
            <a:ext cx="201168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172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68%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6032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BBBB"/>
                </a:solidFill>
              </a:rPr>
              <a:t>From Corp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% NPAs from corp loans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36592" y="3127248"/>
            <a:ext cx="2011680" cy="960120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3127248"/>
            <a:ext cx="201168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172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 Days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36592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BBBB"/>
                </a:solidFill>
              </a:rPr>
              <a:t>→ &lt;1 Hour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TAT with Intelli-Credit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912864" y="3127248"/>
            <a:ext cx="2011680" cy="960120"/>
          </a:xfrm>
          <a:prstGeom prst="rect">
            <a:avLst/>
          </a:prstGeom>
          <a:solidFill>
            <a:srgbClr val="2E2E2E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2864" y="3127248"/>
            <a:ext cx="201168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3172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95%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1286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BBBB"/>
                </a:solidFill>
              </a:rPr>
              <a:t>Fraud Catch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12864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vs 40% manual baseline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404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Python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0136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0136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networkx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1868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1868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LangChain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3600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SHAP / XAI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5332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32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BeautifulSoup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70648" y="4087368"/>
            <a:ext cx="1298448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40873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python-docx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84048" y="44622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github.com/Abhishekpalmain/Yuvaan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Corporate Lending "Data Paradox"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Indian Banks Are Bleeding — The Scale of the Problem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5029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Banks are paralyzed NOT by a lack of data — but an ABUNDANCE of it. A single mid-market appraisal touches 3+ data categories, 500+ documents, and dozens of external sources — yet 60% of analyst time is spent just preparing data, not analysing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697480" cy="1627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00784"/>
            <a:ext cx="2697480" cy="5029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Structured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0848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Bank statements (3+ years)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3134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GST: GSTR-1, 2A, 2B, 3B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5420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Balance sheets &amp; P&amp;L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7706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Cash flow statements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9992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Audit &amp; compliance reports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700784"/>
            <a:ext cx="2697480" cy="1627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700784"/>
            <a:ext cx="2697480" cy="5029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Unstructured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20848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Annual reports (100s of pages)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64408" y="23134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Board meeting minutes (scanned)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64408" y="25420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Legal notices &amp; MOU docs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64408" y="27706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Promoter background files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64408" y="29992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Sector analyst reports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35040" y="1700784"/>
            <a:ext cx="2697480" cy="1627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700784"/>
            <a:ext cx="2697480" cy="502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External Intelligence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20848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MCA compliance &amp; filings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44768" y="23134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e-Courts litigation history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44768" y="25420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RBI policy &amp; macro signals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44768" y="27706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News &amp; reputational risk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44768" y="299923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▸  Industry NPA benchmarks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438144"/>
            <a:ext cx="2029968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438144"/>
            <a:ext cx="2029968" cy="5029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5112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14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274320" y="40233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</a:rPr>
              <a:t>Days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2062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Industry avg appraisal TAT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636008"/>
            <a:ext cx="1847088" cy="23774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36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Intelli-Credit: &lt;1 Hour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41448" y="3438144"/>
            <a:ext cx="2029968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41448" y="3438144"/>
            <a:ext cx="2029968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41448" y="35112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60%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2532888" y="405993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Analyst time on data prep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32888" y="4636008"/>
            <a:ext cx="1847088" cy="23774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32888" y="4636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Not on actual analysis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08576" y="3438144"/>
            <a:ext cx="2029968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08576" y="3438144"/>
            <a:ext cx="2029968" cy="50292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35112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₹2.1T</a:t>
            </a:r>
            <a:endParaRPr lang="en-US" sz="3800" dirty="0"/>
          </a:p>
        </p:txBody>
      </p:sp>
      <p:sp>
        <p:nvSpPr>
          <p:cNvPr id="49" name="Text 47"/>
          <p:cNvSpPr/>
          <p:nvPr/>
        </p:nvSpPr>
        <p:spPr>
          <a:xfrm>
            <a:off x="4700016" y="405993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Corporate NPA Stock FY24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0016" y="4636008"/>
            <a:ext cx="1847088" cy="23774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4636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Addressable by AI decisioning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775704" y="3438144"/>
            <a:ext cx="2029968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75704" y="3438144"/>
            <a:ext cx="2029968" cy="50292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75704" y="35112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3×</a:t>
            </a:r>
            <a:endParaRPr lang="en-US" sz="3800" dirty="0"/>
          </a:p>
        </p:txBody>
      </p:sp>
      <p:sp>
        <p:nvSpPr>
          <p:cNvPr id="55" name="Text 53"/>
          <p:cNvSpPr/>
          <p:nvPr/>
        </p:nvSpPr>
        <p:spPr>
          <a:xfrm>
            <a:off x="6775704" y="40233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</a:rPr>
              <a:t>Faster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67144" y="42062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Fraud detection with AI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67144" y="4636008"/>
            <a:ext cx="1847088" cy="23774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67144" y="4636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vs best-effort manual review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Intelli-Credit: The Solution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AI Pillars — Raw Data to Decision in Hours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88920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788920" cy="50292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384048" cy="384048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207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Data Ingestor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4813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The Engine Room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2578608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74520"/>
            <a:ext cx="50292" cy="86868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38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📄 CIBIL &amp; Annual Report OCR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1854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Bounding-box extraction of CIBIL Rank 1–10 and debt schedules with 100% accuracy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25496"/>
            <a:ext cx="50292" cy="86868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📊 GST Reconciliation 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136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Python math: GSTR-2A vs GSTR-3B cross-check. Flags ITC discrepancy to the rupee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76472"/>
            <a:ext cx="50292" cy="86868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🕸 Graph Fraud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networkx directed graph detects circular trading loops across 2,400+ transactions/case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4736592"/>
            <a:ext cx="2578608" cy="201168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365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500+ doc types processed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54096" y="256032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63824" y="1078992"/>
            <a:ext cx="2788920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63824" y="1078992"/>
            <a:ext cx="2788920" cy="50292"/>
          </a:xfrm>
          <a:prstGeom prst="rect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1207008"/>
            <a:ext cx="384048" cy="384048"/>
          </a:xfrm>
          <a:prstGeom prst="ellipse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58184" y="1207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Research 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58184" y="14813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The Digital Analyst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73552" y="1783080"/>
            <a:ext cx="2578608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73552" y="1874520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73552" y="1874520"/>
            <a:ext cx="50292" cy="868680"/>
          </a:xfrm>
          <a:prstGeom prst="rect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1938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⚖ e-Courts &amp; MCA Scraping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21854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BeautifulSoup scrapes promoter litigation, ROC compliance, director DIN validity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73552" y="2825496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73552" y="2825496"/>
            <a:ext cx="50292" cy="868680"/>
          </a:xfrm>
          <a:prstGeom prst="rect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📡 Macro Risk Monitor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64992" y="3136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Scans RBI circulars, SEBI alerts, financial news; weights sector-level credit headwinds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73552" y="3776472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73552" y="3776472"/>
            <a:ext cx="50292" cy="868680"/>
          </a:xfrm>
          <a:prstGeom prst="rect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🧠 Human-AI NLP Portal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64992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Credit officer field notes processed by LLM; risk signals extracted and dynamically weighted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73552" y="4736592"/>
            <a:ext cx="2578608" cy="201168"/>
          </a:xfrm>
          <a:prstGeom prst="rect">
            <a:avLst/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7365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Real-time external intelligence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61888" y="256032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71616" y="1078992"/>
            <a:ext cx="2788920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71616" y="1078992"/>
            <a:ext cx="2788920" cy="50292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1344" y="1207008"/>
            <a:ext cx="384048" cy="384048"/>
          </a:xfrm>
          <a:prstGeom prst="ellipse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81344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65976" y="1207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Recommendation Engine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665976" y="14813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The Brain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81344" y="1783080"/>
            <a:ext cx="2578608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81344" y="1874520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874520"/>
            <a:ext cx="50292" cy="86868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1938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📝 Automated CAM (.docx)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72784" y="21854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Fully formatted bank-standard Credit Appraisal Memo. All 5 sections auto-populated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81344" y="2825496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2825496"/>
            <a:ext cx="50292" cy="86868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2784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🏛 Five Cs Framework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72784" y="3136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Character, Capacity, Capital, Collateral &amp; Conditions — each traceable to source data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181344" y="3776472"/>
            <a:ext cx="2578608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3776472"/>
            <a:ext cx="50292" cy="86868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72784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🔍 Explainable AI (SHAP)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72784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Every score deduction is labelled, sourced and auditable — fully RBI-compliant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81344" y="4736592"/>
            <a:ext cx="2578608" cy="201168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81344" y="47365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XAI audit trail per decision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992624"/>
            <a:ext cx="8631936" cy="201168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50017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→ CAM.docx + XAI Decision Log + Risk Score  ·  Hours not Days  ·  Bank-Compliant &amp; Auditable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The High-Latency Data Ingestor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Pipelines — Replacing 100 Hours of Manual Data Prep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1480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420624" cy="118872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9961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" y="115214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CIBIL &amp; Annual Report Parsing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" y="1426464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Generic OCR fails on Indian commercial docs — misread tables, merged cells, and scanned PDFs. Our pipeline uses bounding-box localization to extract CIBIL Rank (1–10), total outstanding debt, and repayment schedules with 100% accuracy.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68096" y="2048256"/>
            <a:ext cx="3511296" cy="164592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048256"/>
            <a:ext cx="3511296" cy="164592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066544"/>
            <a:ext cx="3511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→ 100% extraction accuracy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2386584"/>
            <a:ext cx="411480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386584"/>
            <a:ext cx="420624" cy="118872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7889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" y="244144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Programmatic GST Reconciliation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27157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Python hardcodes the math: GSTR-3B (self-declared ITC) vs GSTR-2A (supplier-confirmed). Catches ITC inflation that no LLM can compute. Detects balance sheet inflation to the exact rupee.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68096" y="3337560"/>
            <a:ext cx="3511296" cy="164592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337560"/>
            <a:ext cx="3511296" cy="164592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55848"/>
            <a:ext cx="3511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→ 100% discrepancy detection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3675888"/>
            <a:ext cx="411480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675888"/>
            <a:ext cx="420624" cy="118872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07822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8096" y="373075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Graph Analytics: Circular Trading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400507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networkx maps every bank txn as directed graph nodes/edges. DFS cycle-detection finds closed money loops in milliseconds across 2,400+ transactions. Manual analysts catch &lt;10% of these.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68096" y="4626864"/>
            <a:ext cx="3511296" cy="164592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4626864"/>
            <a:ext cx="3160166" cy="164592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645152"/>
            <a:ext cx="3511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→ 90%+ fraud miss rate (manual)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53712" y="1097280"/>
            <a:ext cx="4334256" cy="2633472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53712" y="1097280"/>
            <a:ext cx="4334256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161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GST ITC Reconciliation — Fraud Case</a:t>
            </a:r>
            <a:endParaRPr lang="en-US" sz="9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53712" y="1371600"/>
          <a:ext cx="4334256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4553712" y="3785616"/>
            <a:ext cx="4334256" cy="384048"/>
          </a:xfrm>
          <a:prstGeom prst="rect">
            <a:avLst/>
          </a:prstGeom>
          <a:solidFill>
            <a:srgbClr val="F9ECE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38221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1C1C"/>
                </a:solidFill>
              </a:rPr>
              <a:t>⚠  INR 3,00,000 unverified ITC detected — probable tax evasion &amp; artificial balance sheet inflation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53712" y="4242816"/>
            <a:ext cx="4334256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53712" y="4242816"/>
            <a:ext cx="4334256" cy="5029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43159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Circular Trading Detection — Live Stats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63440" y="4498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2,400+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663440" y="4745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txns/case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687568" y="4498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&lt;3 sec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687568" y="4745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loop detect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711696" y="4498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5-hop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711696" y="4745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max chain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735824" y="4498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₹2.33 Cr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735824" y="4745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fraud caught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Analytics: Detecting Circular Trading Fraud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Cycle Detection — Fraud Patterns Manual Analysts Miss 90% of the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393192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3931920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How Circular Trading Works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499616"/>
            <a:ext cx="3675888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31620"/>
            <a:ext cx="384048" cy="384048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1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36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Revenue Inflation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7282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Company routes ₹ through shell entities to fabricate high turnover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011680"/>
            <a:ext cx="3675888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43684"/>
            <a:ext cx="384048" cy="384048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43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0482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Legitimate Façade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22402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Each shell files GST returns — creating an aura of real trade activity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523744"/>
            <a:ext cx="3675888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55748"/>
            <a:ext cx="384048" cy="384048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557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560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Analyst Blindspot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27523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Manual analysts miss multi-hop cycles buried in thousands of txn rows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3035808"/>
            <a:ext cx="3675888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67812"/>
            <a:ext cx="384048" cy="384048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7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Loan Fraud Executed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3264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Bank approves inflated loan based on fictional revenue — NPA follows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3593592"/>
            <a:ext cx="3675888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Detection Pipeline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3904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① Ingest all bank transactions (CSV or parsed PDF)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0782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② Build directed graph — entity=node, transfer=edge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251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③ Run DFS cycle-detection algorithm across full graph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4256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④ Alert on loops where money returns to origin &lt; 30 days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89120" y="1097280"/>
            <a:ext cx="4498848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0" y="1097280"/>
            <a:ext cx="4498848" cy="50292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48" y="117043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Live Detection — TXN Case #9902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92824" y="1810512"/>
            <a:ext cx="18288" cy="9144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2715768"/>
            <a:ext cx="1499616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2724912"/>
            <a:ext cx="18288" cy="128016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52944" y="3995928"/>
            <a:ext cx="548640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0096" y="3995928"/>
            <a:ext cx="2212848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0952" y="2724912"/>
            <a:ext cx="18288" cy="128016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01184" y="2715768"/>
            <a:ext cx="438912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1810512"/>
            <a:ext cx="18288" cy="9144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1801368"/>
            <a:ext cx="1700784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1536192"/>
            <a:ext cx="658368" cy="548640"/>
          </a:xfrm>
          <a:prstGeom prst="ellipse">
            <a:avLst/>
          </a:prstGeom>
          <a:solidFill>
            <a:srgbClr val="A31C1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72784" y="15361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Target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Company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72400" y="2450592"/>
            <a:ext cx="658368" cy="54864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772400" y="24505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Shell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Corp 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223760" y="3730752"/>
            <a:ext cx="658368" cy="54864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223760" y="37307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Shell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Corp B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10912" y="3730752"/>
            <a:ext cx="658368" cy="54864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10912" y="37307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Shell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Corp C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2450592"/>
            <a:ext cx="658368" cy="54864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0" y="24505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Bank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Account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084064" y="2743200"/>
            <a:ext cx="1517904" cy="402336"/>
          </a:xfrm>
          <a:prstGeom prst="rect">
            <a:avLst/>
          </a:prstGeom>
          <a:solidFill>
            <a:srgbClr val="F9ECE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84064" y="274320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1C1C"/>
                </a:solidFill>
              </a:rPr>
              <a:t>LOOP DETECTED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31C1C"/>
                </a:solidFill>
              </a:rPr>
              <a:t>TXN9902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516368" y="192024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6368" y="1920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₹50L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772400" y="320040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₹48L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17920" y="4005072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4005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₹46L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498848" y="320040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₹45L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029200" y="1901952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₹44L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4572000"/>
            <a:ext cx="4498848" cy="36576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53712" y="4599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₹2.33 Cr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553712" y="47731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Total Cycled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32704" y="4599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5 Entities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32704" y="47731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In Loop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711696" y="4599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18 Days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711696" y="47731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Cycle Duration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790688" y="4599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1C1C"/>
                </a:solidFill>
              </a:rPr>
              <a:t>CRITICAL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790688" y="47731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Risk Rating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The Autonomous Research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Analyst Sleeps — AI Scrapes, Monitors &amp; Dynamically Weights Risk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14800" cy="3931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4114800" cy="5029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A. Web-Scale Secondary Research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463040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BeautifulSoup + LangChain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4048" y="1773936"/>
            <a:ext cx="3858768" cy="749808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773936"/>
            <a:ext cx="5029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37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⚖ e-Courts Portal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0756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Queries entity + all promoters by DIN. Surfaces hidden vendor disputes, winding-up petitions, and RBI defaulter list hits.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2615184"/>
            <a:ext cx="3858768" cy="749808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615184"/>
            <a:ext cx="5029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🏛 MCA ROC 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916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Checks filing compliance, delayed annual returns, charge registration, director DIN validity, strike-off risk.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" y="3456432"/>
            <a:ext cx="3858768" cy="749808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456432"/>
            <a:ext cx="5029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📡 Macro Risk Monitor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37581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Scans RBI circulars, SEBI notifications, financial news. Correlates sector headwinds and NPA trends to risk score dynamically.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43525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"AI monitors 100s of external sources simultaneously — a task that takes analysts 2–3 days manually."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53712" y="1097280"/>
            <a:ext cx="4334256" cy="3931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1097280"/>
            <a:ext cx="4334256" cy="50292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B. Human-AI Insight 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NLP + Dynamic Weighting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1773936"/>
            <a:ext cx="4133088" cy="841248"/>
          </a:xfrm>
          <a:prstGeom prst="rect">
            <a:avLst/>
          </a:prstGeom>
          <a:solidFill>
            <a:srgbClr val="1E1E1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9222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● CREDIT OFFICER FIELD NOTE INPUT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0" y="1956816"/>
            <a:ext cx="395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CCCCC"/>
                </a:solidFill>
              </a:rPr>
              <a:t>"Factory production at 40% capacity. Power bills low vs same period. Inventory stagnant 4 months. Promoter evasive on order book and upcoming contracts."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3440" y="2670048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</a:rPr>
              <a:t>NLP EXTRACTED RISK SIGNALS 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907792"/>
            <a:ext cx="4133088" cy="42062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299923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742432" y="2962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Capacity Risk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42432" y="3136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40% utilisation → Capacity score −15 pts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010144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1C1C"/>
                </a:solidFill>
              </a:rPr>
              <a:t>−15 pts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4133088" cy="42062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347472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742432" y="3438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Promoter Risk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42432" y="3611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Evasive behaviour flagged → Character −10 pts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010144" y="3474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−10 pts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858768"/>
            <a:ext cx="4133088" cy="42062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6592" y="395020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42432" y="3913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Inventory Risk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42432" y="40873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Stagnant stock → Revenue quality concern −8 pts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010144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−8 pts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4334256"/>
            <a:ext cx="4133088" cy="420624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36592" y="44256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4425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42432" y="4389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Order Book Gap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42432" y="45628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No future orders confirmed → Conditions −5 pts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010144" y="4425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</a:rPr>
              <a:t>−5 pts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4828032"/>
            <a:ext cx="4133088" cy="109728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4828032"/>
            <a:ext cx="4133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1C1C"/>
                </a:solidFill>
              </a:rPr>
              <a:t>Total NLP deduction: −38 pts from starting score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The Recommendation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CAM Generation + SHAP-Based Explainable AI — Every Decision Auditable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14800" cy="376732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4114800" cy="50292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Five Cs of Credit — Auto-Populated CAM Sections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" y="1463040"/>
            <a:ext cx="3986784" cy="274320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C-FACTOR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SOURCE &amp; METHOD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PILLAR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773936"/>
            <a:ext cx="3986784" cy="448056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" y="1773936"/>
            <a:ext cx="45720" cy="448056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Character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18196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MCA filings, e-Courts promoter check, RBI defaulter list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84448" y="1865376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0896" y="2240280"/>
            <a:ext cx="3986784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" y="2240280"/>
            <a:ext cx="45720" cy="44805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313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Capacity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DSCR, cash flow analysis, GST revenue reconciliation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84448" y="2331720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3317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10896" y="2706624"/>
            <a:ext cx="3986784" cy="448056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" y="2706624"/>
            <a:ext cx="45720" cy="448056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7797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Capital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2752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Net worth, D/E ratio extracted from Annual Reports (OCR)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84448" y="2798064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7980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0896" y="3172968"/>
            <a:ext cx="3986784" cy="448056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" y="3172968"/>
            <a:ext cx="45720" cy="44805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Collateral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Asset valuation, charge registration on MCA portal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584448" y="3264408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32644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0896" y="3639312"/>
            <a:ext cx="3986784" cy="448056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" y="3639312"/>
            <a:ext cx="45720" cy="448056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7124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Conditions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371600" y="36850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RBI macro, sector NPA trend, covenant pre-population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584448" y="37307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4448" y="3730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10896" y="4151376"/>
            <a:ext cx="3986784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1970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📄  Output: CAM.docx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0624" y="4407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Fully-formatted bank-standard Credit Appraisal Memo — auto-populated with all 5 sections. Committee-ready in minutes. Zero manual formatting.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53712" y="1097280"/>
            <a:ext cx="4334256" cy="376732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53712" y="1097280"/>
            <a:ext cx="4334256" cy="50292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11704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Explainable AI — Rejection Trace Log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23760" y="1463040"/>
            <a:ext cx="1371600" cy="1371600"/>
          </a:xfrm>
          <a:prstGeom prst="ellipse">
            <a:avLst/>
          </a:prstGeom>
          <a:solidFill>
            <a:srgbClr val="F9ECE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31C1C"/>
                </a:solidFill>
              </a:rPr>
              <a:t>20</a:t>
            </a:r>
            <a:endParaRPr lang="en-US" sz="4600" dirty="0"/>
          </a:p>
        </p:txBody>
      </p:sp>
      <p:sp>
        <p:nvSpPr>
          <p:cNvPr id="51" name="Text 49"/>
          <p:cNvSpPr/>
          <p:nvPr/>
        </p:nvSpPr>
        <p:spPr>
          <a:xfrm>
            <a:off x="7223760" y="2176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/100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14032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1C1C"/>
                </a:solidFill>
              </a:rPr>
              <a:t>REJECT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626864" y="1463040"/>
            <a:ext cx="2432304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26864" y="1463040"/>
            <a:ext cx="585216" cy="6400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1463040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-20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525780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GSTR-3B ITC &gt; GSTR-2A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5780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Self-declared ₹5L vs vendor-confirmed ₹2L — fabricated tax credit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26864" y="2167128"/>
            <a:ext cx="2432304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26864" y="2167128"/>
            <a:ext cx="585216" cy="640080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2167128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-50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257800" y="2212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Circular loop TXN9902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57800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₹2.33 Cr cycled across 5 entities in 18 days — critical fraud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626864" y="2871216"/>
            <a:ext cx="2432304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26864" y="2871216"/>
            <a:ext cx="585216" cy="64008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26864" y="2871216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-10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5257800" y="29169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Active promoter litigation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257800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HC/2023/4471 — high-severity case not disclosed by applicant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626864" y="3575304"/>
            <a:ext cx="2432304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26864" y="3575304"/>
            <a:ext cx="585216" cy="6400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26864" y="3575304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-20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5257800" y="36210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40% factory utilisation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257800" y="38496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Field visit NLP: low capacity signals revenue inflation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53712" y="4279392"/>
            <a:ext cx="4334256" cy="548640"/>
          </a:xfrm>
          <a:prstGeom prst="rect">
            <a:avLst/>
          </a:prstGeom>
          <a:solidFill>
            <a:srgbClr val="EBF5EE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4315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430"/>
                </a:solidFill>
              </a:rPr>
              <a:t>✓  RBI COMPLIANT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63440" y="4517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A5430"/>
                </a:solidFill>
              </a:rPr>
              <a:t>SHAP-based score trace meets RBI's explainable AI guidelines. Every deduction labelled, sourced, and fully auditable by the loan committee.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Impact &amp; Competitive Advantage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Intelli-Credit — Measurable Results Across Every Dimension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84832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84832" cy="50292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14→&lt;1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" y="17099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Days → Hours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929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Appraisal Turnaround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1865376" cy="13716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67128"/>
            <a:ext cx="1734800" cy="13716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408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Industry avg 14 days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68880" y="1078992"/>
            <a:ext cx="2084832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78992"/>
            <a:ext cx="2084832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17043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468880" y="17099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Accuracy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1929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GST Reconciliation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78608" y="2167128"/>
            <a:ext cx="1865376" cy="13716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2167128"/>
            <a:ext cx="1865376" cy="1371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3408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Zero rounding errors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81728" y="1078992"/>
            <a:ext cx="2084832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078992"/>
            <a:ext cx="2084832" cy="50292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17043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95%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81728" y="17099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Catch Rate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1929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Fraud Detection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91456" y="2167128"/>
            <a:ext cx="1865376" cy="13716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2167128"/>
            <a:ext cx="1772107" cy="137160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3408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vs 40% manual baseline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94576" y="1078992"/>
            <a:ext cx="2084832" cy="157276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94576" y="1078992"/>
            <a:ext cx="2084832" cy="50292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117043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₹2.1T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894576" y="170992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NPA Pool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86016" y="1929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Addressable Market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04304" y="2167128"/>
            <a:ext cx="1865376" cy="137160"/>
          </a:xfrm>
          <a:prstGeom prst="rect">
            <a:avLst/>
          </a:prstGeom>
          <a:solidFill>
            <a:srgbClr val="E6E6E6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04304" y="2167128"/>
            <a:ext cx="1268456" cy="137160"/>
          </a:xfrm>
          <a:prstGeom prst="rect">
            <a:avLst/>
          </a:prstGeom>
          <a:solidFill>
            <a:srgbClr val="A31C1C"/>
          </a:solidFill>
          <a:ln w="12700">
            <a:solidFill>
              <a:srgbClr val="A3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23408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India corp NPA FY24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" y="2743200"/>
            <a:ext cx="4407408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2743200"/>
            <a:ext cx="4407408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80720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Before vs. After — 4 Key Performance Metrics</a:t>
            </a:r>
            <a:endParaRPr lang="en-US" sz="10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256032" y="3017520"/>
          <a:ext cx="440740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4846320" y="2743200"/>
            <a:ext cx="4041648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846320" y="2743200"/>
            <a:ext cx="4041648" cy="5029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74336" y="28072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Intelli-Credit vs. Standard AI / RAG Tools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054096"/>
          <a:ext cx="4041648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978408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Generic AI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Intelli-Credit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GST Math Reconciliation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Circular Trading Graph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Indian e-Courts Scraping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Explainable AI (SHAP)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Automated CAM (.docx)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RBI-Compliant Decisions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1C1C"/>
                          </a:solidFill>
                        </a:rPr>
                        <a:t>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5430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6" name="Shape 4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875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Roadmap: Scaling to Production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Enterprise-Grade Infrastructure — 4 Clear Phases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43784"/>
            <a:ext cx="8046720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06624"/>
            <a:ext cx="292608" cy="292608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432304"/>
            <a:ext cx="18288" cy="27432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" y="1060704"/>
            <a:ext cx="1975104" cy="129844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" y="1060704"/>
            <a:ext cx="1975104" cy="50292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115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Phase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13075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NOW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149961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Prototype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" y="1773936"/>
            <a:ext cx="1792224" cy="18288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Working prototype · Hackathon ready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63824" y="2706624"/>
            <a:ext cx="292608" cy="292608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0984" y="2432304"/>
            <a:ext cx="18288" cy="2743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5728" y="1060704"/>
            <a:ext cx="1975104" cy="129844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1060704"/>
            <a:ext cx="1975104" cy="5029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115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Phase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87168" y="13075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3–6 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87168" y="149961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API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87168" y="1773936"/>
            <a:ext cx="1792224" cy="1828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Zero manual uploads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230368" y="2706624"/>
            <a:ext cx="292608" cy="292608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67528" y="2432304"/>
            <a:ext cx="18288" cy="27432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1060704"/>
            <a:ext cx="1975104" cy="129844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62272" y="1060704"/>
            <a:ext cx="1975104" cy="50292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1115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Phase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53712" y="13075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6–12 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53712" y="149961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53712" y="1773936"/>
            <a:ext cx="1792224" cy="18288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Global shell detection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296912" y="2706624"/>
            <a:ext cx="292608" cy="292608"/>
          </a:xfrm>
          <a:prstGeom prst="ellipse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34072" y="2432304"/>
            <a:ext cx="18288" cy="274320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8816" y="1060704"/>
            <a:ext cx="1975104" cy="1298448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28816" y="1060704"/>
            <a:ext cx="1975104" cy="50292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1115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Phase 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20256" y="13075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12–18 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0256" y="149961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Full Production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20256" y="1773936"/>
            <a:ext cx="1792224" cy="182880"/>
          </a:xfrm>
          <a:prstGeom prst="rect">
            <a:avLst/>
          </a:prstGeom>
          <a:solidFill>
            <a:srgbClr val="1A5430"/>
          </a:solidFill>
          <a:ln w="12700">
            <a:solidFill>
              <a:srgbClr val="1A54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Enterprise deployment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9184" y="3054096"/>
            <a:ext cx="1975104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20624" y="31272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End-to-end CAM generation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0624" y="33558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Mock Indian financial data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20624" y="35844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Graph fraud detection live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0624" y="38130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XAI trace log functional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0624" y="40416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Full 3-pillar pipeline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395728" y="3054096"/>
            <a:ext cx="1975104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87168" y="31272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Open Banking / AA APIs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87168" y="33558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Real-time CBS data feeds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487168" y="35844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Live GSTN API integration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87168" y="38130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Automated data pull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487168" y="40416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No manual file upload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62272" y="3054096"/>
            <a:ext cx="1975104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53712" y="31272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Graph Neural Networks (GNNs)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53712" y="33558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Multi-national holding maps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53712" y="35844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UBO identification engine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53712" y="38130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Beneficial owner tracing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53712" y="40416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Complex fraud chains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528816" y="3054096"/>
            <a:ext cx="1975104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620256" y="31272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Vernacular NLP (Hindi/Tamil)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20256" y="33558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Post-disbursal monitoring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20256" y="35844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Covenant breach alerts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620256" y="38130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Continuous risk scoring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620256" y="404164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▸ Live bank deployment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56032" y="4407408"/>
            <a:ext cx="283464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56032" y="4407408"/>
            <a:ext cx="2834640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47141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Data &amp; Parsing Layer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4048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Python 3.11, pandas, numpy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84048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networkx (graph analytics)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700784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OpenCV + Tesseract (OCR)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700784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BeautifulSoup4 (scraping)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218688" y="4407408"/>
            <a:ext cx="283464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218688" y="4407408"/>
            <a:ext cx="2834640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28416" y="447141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AI &amp; Intelligence Layer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346704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LLMs: OpenAI / Anthropic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346704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LangChain (orchestration)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663440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SHAP / XAI Principles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663440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GNN: PyTorch Geometric (v3)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181344" y="4407408"/>
            <a:ext cx="283464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181344" y="4407408"/>
            <a:ext cx="2834640" cy="502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91072" y="447141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Output &amp; Integration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09360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python-docx (CAM output)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309360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FastAPI (REST interface)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626096" y="4700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Account Aggregator APIs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626096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▸ Core Banking System hooks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133856"/>
            <a:ext cx="2743200" cy="228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Intelli-Credit — Eradicating the Corporate Lending Data Paradox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627632"/>
            <a:ext cx="1938528" cy="1234440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627632"/>
            <a:ext cx="1938528" cy="4114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14→&lt;1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1579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Days → Hours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4048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Appraisal TAT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42032" y="1627632"/>
            <a:ext cx="1938528" cy="1234440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627632"/>
            <a:ext cx="1938528" cy="4114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42032" y="21579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Fraud Detection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24048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vs 40% manual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08576" y="1627632"/>
            <a:ext cx="1938528" cy="1234440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627632"/>
            <a:ext cx="1938528" cy="4114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₹2.1T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08576" y="21579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Addressable NPAs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08576" y="24048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India corp FY24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627632"/>
            <a:ext cx="1938528" cy="1234440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1627632"/>
            <a:ext cx="1938528" cy="4114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3+1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21579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Pillars + Human AI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24048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Full pipeline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962656"/>
            <a:ext cx="8229600" cy="713232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62656"/>
            <a:ext cx="64008" cy="7132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017520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BBBB"/>
                </a:solidFill>
              </a:rPr>
              <a:t>"Intelli-Credit isn't just a hackathon script. It is the architectural blueprint for the next generation of risk-averse, highly profitable corporate lending in India — purpose-built for Indian data, Indian law, and Indian complexity."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4023360" cy="804672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</a:rPr>
              <a:t>Built With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" y="40599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Python 3.11  •  networkx  •  LangChain  •  BeautifulSoup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SHAP / XAI  •  OpenAI/Anthropic  •  python-docx  •  FastAPI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794760"/>
            <a:ext cx="4023360" cy="804672"/>
          </a:xfrm>
          <a:prstGeom prst="rect">
            <a:avLst/>
          </a:prstGeom>
          <a:solidFill>
            <a:srgbClr val="3A3A3A"/>
          </a:solidFill>
          <a:ln w="12700">
            <a:solidFill>
              <a:srgbClr val="4E4E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9744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</a:rPr>
              <a:t>GitHub Repository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github.com/Abhishekpalmain/Yuvaan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9744" y="4334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Full codebase · Architecture diagrams · Mock data · Test scripts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Intelli-Credit</dc:title>
  <dc:subject>PptxGenJS Presentation</dc:subject>
  <dc:creator>PptxGenJS</dc:creator>
  <cp:lastModifiedBy>PptxGenJS</cp:lastModifiedBy>
  <cp:revision>1</cp:revision>
  <dcterms:created xsi:type="dcterms:W3CDTF">2026-03-12T18:23:38Z</dcterms:created>
  <dcterms:modified xsi:type="dcterms:W3CDTF">2026-03-12T18:23:38Z</dcterms:modified>
</cp:coreProperties>
</file>